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76" r:id="rId3"/>
    <p:sldId id="279" r:id="rId4"/>
    <p:sldId id="280" r:id="rId5"/>
    <p:sldId id="282" r:id="rId6"/>
    <p:sldId id="283" r:id="rId7"/>
    <p:sldId id="284" r:id="rId8"/>
    <p:sldId id="285" r:id="rId9"/>
    <p:sldId id="286" r:id="rId10"/>
    <p:sldId id="288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AEC7"/>
    <a:srgbClr val="CB7A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52" autoAdjust="0"/>
  </p:normalViewPr>
  <p:slideViewPr>
    <p:cSldViewPr snapToGrid="0" showGuides="1">
      <p:cViewPr varScale="1">
        <p:scale>
          <a:sx n="110" d="100"/>
          <a:sy n="110" d="100"/>
        </p:scale>
        <p:origin x="846" y="114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B46527B0-0B24-4087-B225-DB4F5C738F6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2798E0-F322-4236-8531-A1882BFE40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6FB0DE1-D418-4EA9-BDFD-2E5632763663}" type="datetime1">
              <a:rPr lang="fr-FR" smtClean="0"/>
              <a:t>19/11/2023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E5881F-2FD0-41BC-8E76-C691E59E14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CA62C5-8A29-4592-9E3E-4C457F263C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4E85F6F-0FAD-4AD4-850C-7E4CD14D7D7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274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0BD304-4DB2-4DA8-BE69-274C9984CC7A}" type="datetime1">
              <a:rPr lang="fr-FR" smtClean="0"/>
              <a:t>19/11/2023</a:t>
            </a:fld>
            <a:endParaRPr lang="en-US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"/>
              <a:t>Modifiez les styles du texte du masque</a:t>
            </a:r>
          </a:p>
          <a:p>
            <a:pPr lvl="1" rtl="0"/>
            <a:r>
              <a:rPr lang="fr"/>
              <a:t>Deuxième niveau</a:t>
            </a:r>
          </a:p>
          <a:p>
            <a:pPr lvl="2" rtl="0"/>
            <a:r>
              <a:rPr lang="fr"/>
              <a:t>Troisième niveau</a:t>
            </a:r>
          </a:p>
          <a:p>
            <a:pPr lvl="3" rtl="0"/>
            <a:r>
              <a:rPr lang="fr"/>
              <a:t>Quatrième niveau</a:t>
            </a:r>
          </a:p>
          <a:p>
            <a:pPr lvl="4" rtl="0"/>
            <a:r>
              <a:rPr lang="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60DC36-8EFA-4378-9855-E019C55AC47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9074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7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1568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E60DC36-8EFA-4378-9855-E019C55AC472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18568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D63498-AA6B-4FA3-8C0C-F047B32E6A28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9393B2-D2D1-46F0-81A9-FE2ED5E7F998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E90C3F-53CA-4279-A2D5-C68C34A1B7FE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E3742E-AFBE-42DF-91BB-D2D1057FFA79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D3CAEB-0D2D-466C-AFB9-F2937F51F366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E92E680-0F8A-43BD-BDFD-C0D03E7F344B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D7189FD-F089-49F7-A99B-945C4E0C4AF5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07288E-1786-4A50-AD68-D3D5A2E1F461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8A2F46-A3F2-4FAD-B8A1-978F19EF1438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 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6D2216-24AE-4A93-BEA9-26FD9BE8D8E8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C4311B-E9D3-41DC-B3A4-2DA1CBB5303E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78CE1DC9-D956-40C2-BAC4-4037E3AB19CC}" type="datetime1">
              <a:rPr lang="fr-FR" noProof="0" smtClean="0"/>
              <a:t>19/11/2023</a:t>
            </a:fld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6FEDF93-2BFD-41CA-ABC7-B039102F3792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76036"/>
            <a:ext cx="9144000" cy="1994392"/>
          </a:xfrm>
        </p:spPr>
        <p:txBody>
          <a:bodyPr lIns="0" tIns="0" rIns="0" bIns="0" rtlCol="0" anchor="t">
            <a:spAutoFit/>
          </a:bodyPr>
          <a:lstStyle/>
          <a:p>
            <a:pPr rtl="0"/>
            <a:r>
              <a:rPr lang="fr-FR" sz="4800" b="1" dirty="0">
                <a:solidFill>
                  <a:schemeClr val="bg1"/>
                </a:solidFill>
              </a:rPr>
              <a:t>Analyse du circuit professionnel de tennis masculin</a:t>
            </a:r>
            <a:endParaRPr lang="fr-FR" sz="4800" dirty="0">
              <a:solidFill>
                <a:schemeClr val="accent4"/>
              </a:solidFill>
            </a:endParaRPr>
          </a:p>
        </p:txBody>
      </p:sp>
      <p:sp>
        <p:nvSpPr>
          <p:cNvPr id="4" name="Losange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5" name="Losange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596F045-3BCF-EFBC-AD4E-2CF40C3B0BCB}"/>
              </a:ext>
            </a:extLst>
          </p:cNvPr>
          <p:cNvCxnSpPr>
            <a:cxnSpLocks/>
          </p:cNvCxnSpPr>
          <p:nvPr/>
        </p:nvCxnSpPr>
        <p:spPr>
          <a:xfrm>
            <a:off x="4461496" y="4169605"/>
            <a:ext cx="326900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Réservation en ligne | Nitto ATP Finals">
            <a:extLst>
              <a:ext uri="{FF2B5EF4-FFF2-40B4-BE49-F238E27FC236}">
                <a16:creationId xmlns:a16="http://schemas.microsoft.com/office/drawing/2014/main" id="{75E293D8-DAD9-4E6A-152C-4A47351D1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993" y="3322736"/>
            <a:ext cx="1371600" cy="60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C1B93B4-D4DA-71A8-2DA4-394166511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966" y="3453384"/>
            <a:ext cx="1927334" cy="38546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F368036F-1990-2CB2-E446-C2A29C31F3B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32" t="25058" r="7287" b="23989"/>
          <a:stretch/>
        </p:blipFill>
        <p:spPr>
          <a:xfrm>
            <a:off x="3696365" y="3237288"/>
            <a:ext cx="1181343" cy="69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Mise en contexte</a:t>
            </a:r>
            <a:b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11CE883-F8E7-12E8-4F87-D3547DF0532A}"/>
              </a:ext>
            </a:extLst>
          </p:cNvPr>
          <p:cNvSpPr/>
          <p:nvPr/>
        </p:nvSpPr>
        <p:spPr>
          <a:xfrm>
            <a:off x="1257598" y="1618682"/>
            <a:ext cx="2160955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Blue </a:t>
            </a:r>
            <a:r>
              <a:rPr lang="fr-FR" sz="3200" b="1" dirty="0" err="1"/>
              <a:t>Print</a:t>
            </a:r>
            <a:endParaRPr lang="fr-FR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2455E3-41AE-7F8F-37E1-AB6E4CF8CAA6}"/>
              </a:ext>
            </a:extLst>
          </p:cNvPr>
          <p:cNvSpPr/>
          <p:nvPr/>
        </p:nvSpPr>
        <p:spPr>
          <a:xfrm>
            <a:off x="-26090" y="4333214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Analyse des besoins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625163-7C66-15FB-76DF-20A9F23A0EDB}"/>
              </a:ext>
            </a:extLst>
          </p:cNvPr>
          <p:cNvSpPr/>
          <p:nvPr/>
        </p:nvSpPr>
        <p:spPr>
          <a:xfrm>
            <a:off x="1604505" y="4333214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Cible de ce projet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BC49CE-F348-931A-A2A2-5E1981C68B92}"/>
              </a:ext>
            </a:extLst>
          </p:cNvPr>
          <p:cNvSpPr/>
          <p:nvPr/>
        </p:nvSpPr>
        <p:spPr>
          <a:xfrm>
            <a:off x="3235101" y="4333214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Ligne de conduite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2CB5FBD-00F2-6D9E-76AF-00070EED7E02}"/>
              </a:ext>
            </a:extLst>
          </p:cNvPr>
          <p:cNvCxnSpPr>
            <a:cxnSpLocks/>
          </p:cNvCxnSpPr>
          <p:nvPr/>
        </p:nvCxnSpPr>
        <p:spPr>
          <a:xfrm>
            <a:off x="2338076" y="2286000"/>
            <a:ext cx="0" cy="198120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B84EE160-D385-A22B-601A-943637F9E70A}"/>
              </a:ext>
            </a:extLst>
          </p:cNvPr>
          <p:cNvCxnSpPr/>
          <p:nvPr/>
        </p:nvCxnSpPr>
        <p:spPr>
          <a:xfrm>
            <a:off x="747132" y="3256155"/>
            <a:ext cx="3339093" cy="0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B5E39317-BEA9-2BCC-495B-46FB87B5774B}"/>
              </a:ext>
            </a:extLst>
          </p:cNvPr>
          <p:cNvCxnSpPr>
            <a:cxnSpLocks/>
          </p:cNvCxnSpPr>
          <p:nvPr/>
        </p:nvCxnSpPr>
        <p:spPr>
          <a:xfrm>
            <a:off x="4048125" y="3242615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251B19F4-053C-B1BD-8DD9-11A403A0493F}"/>
              </a:ext>
            </a:extLst>
          </p:cNvPr>
          <p:cNvCxnSpPr>
            <a:cxnSpLocks/>
          </p:cNvCxnSpPr>
          <p:nvPr/>
        </p:nvCxnSpPr>
        <p:spPr>
          <a:xfrm>
            <a:off x="784225" y="3220390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CCE5773-9DAD-87E3-447D-2DB101CF578C}"/>
              </a:ext>
            </a:extLst>
          </p:cNvPr>
          <p:cNvSpPr/>
          <p:nvPr/>
        </p:nvSpPr>
        <p:spPr>
          <a:xfrm>
            <a:off x="6276417" y="954775"/>
            <a:ext cx="2160955" cy="147732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9600" b="1" dirty="0"/>
              <a:t>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397E1D1-9306-25DC-9B09-894D4C2A2366}"/>
              </a:ext>
            </a:extLst>
          </p:cNvPr>
          <p:cNvSpPr/>
          <p:nvPr/>
        </p:nvSpPr>
        <p:spPr>
          <a:xfrm>
            <a:off x="9621960" y="954775"/>
            <a:ext cx="2160955" cy="147732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9600" b="1" dirty="0"/>
              <a:t>5</a:t>
            </a:r>
          </a:p>
        </p:txBody>
      </p: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703624BD-9BF6-AEAB-352E-E71749A285E7}"/>
              </a:ext>
            </a:extLst>
          </p:cNvPr>
          <p:cNvCxnSpPr>
            <a:cxnSpLocks/>
          </p:cNvCxnSpPr>
          <p:nvPr/>
        </p:nvCxnSpPr>
        <p:spPr>
          <a:xfrm>
            <a:off x="8221133" y="1693439"/>
            <a:ext cx="1631835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9536998D-36C0-C229-4A8F-927F7B449943}"/>
              </a:ext>
            </a:extLst>
          </p:cNvPr>
          <p:cNvSpPr/>
          <p:nvPr/>
        </p:nvSpPr>
        <p:spPr>
          <a:xfrm>
            <a:off x="8221133" y="2205961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Thématiques d’analyses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55D77A-76BB-40EA-CE6B-2E8D2EA6AAE4}"/>
              </a:ext>
            </a:extLst>
          </p:cNvPr>
          <p:cNvSpPr/>
          <p:nvPr/>
        </p:nvSpPr>
        <p:spPr>
          <a:xfrm>
            <a:off x="6206077" y="3182089"/>
            <a:ext cx="5541006" cy="295465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Evolution des caractéristiques identitaires et physiques des joueurs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Historique et évolution des statistiques sur les circuits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Analyses du </a:t>
            </a:r>
            <a:r>
              <a:rPr lang="fr-FR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ranking</a:t>
            </a: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 joueurs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Analyses des joueurs et nationalités victorieuses dans les tournois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Analyses des statistiques des joueurs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5979E06E-B575-3D21-B2B6-36345B7A27B7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FE16D9F-2E11-253D-5922-AD5FF5D1E2B4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06AB5E-B791-E005-8949-BD274090EE3D}"/>
              </a:ext>
            </a:extLst>
          </p:cNvPr>
          <p:cNvSpPr/>
          <p:nvPr/>
        </p:nvSpPr>
        <p:spPr>
          <a:xfrm>
            <a:off x="183537" y="729031"/>
            <a:ext cx="4141717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Identification des métriques importantes</a:t>
            </a:r>
          </a:p>
        </p:txBody>
      </p:sp>
      <p:sp>
        <p:nvSpPr>
          <p:cNvPr id="3" name="Ovale 72">
            <a:extLst>
              <a:ext uri="{FF2B5EF4-FFF2-40B4-BE49-F238E27FC236}">
                <a16:creationId xmlns:a16="http://schemas.microsoft.com/office/drawing/2014/main" id="{0A4E5F2D-6DBD-6C95-B2AA-379781552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7995" y="2630490"/>
            <a:ext cx="3212803" cy="326394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E684E1-60E1-ACA1-9FC9-43210B698C96}"/>
              </a:ext>
            </a:extLst>
          </p:cNvPr>
          <p:cNvSpPr/>
          <p:nvPr/>
        </p:nvSpPr>
        <p:spPr>
          <a:xfrm rot="19801837">
            <a:off x="617788" y="3575203"/>
            <a:ext cx="1601719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Minutes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7F9D21-5634-6D1B-EE63-9B8AA26443F3}"/>
              </a:ext>
            </a:extLst>
          </p:cNvPr>
          <p:cNvSpPr/>
          <p:nvPr/>
        </p:nvSpPr>
        <p:spPr>
          <a:xfrm rot="20755919">
            <a:off x="1832377" y="5004492"/>
            <a:ext cx="1601719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Nombre d’aces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D3037-F812-FAE8-3B32-F391DE2EA012}"/>
              </a:ext>
            </a:extLst>
          </p:cNvPr>
          <p:cNvSpPr/>
          <p:nvPr/>
        </p:nvSpPr>
        <p:spPr>
          <a:xfrm rot="240665">
            <a:off x="2133427" y="3513579"/>
            <a:ext cx="1601719" cy="61555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Historique des classements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0DE087-B0C7-A39D-BBB6-152D01001BFC}"/>
              </a:ext>
            </a:extLst>
          </p:cNvPr>
          <p:cNvSpPr/>
          <p:nvPr/>
        </p:nvSpPr>
        <p:spPr>
          <a:xfrm rot="20626221">
            <a:off x="776291" y="4351919"/>
            <a:ext cx="1601719" cy="61555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Historique des matchs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EFFC7-3B5D-8C2B-E37E-418F76188634}"/>
              </a:ext>
            </a:extLst>
          </p:cNvPr>
          <p:cNvSpPr/>
          <p:nvPr/>
        </p:nvSpPr>
        <p:spPr>
          <a:xfrm rot="573983">
            <a:off x="1631255" y="2930629"/>
            <a:ext cx="1601719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Breaks sauvés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3F298FF8-AC71-A0DF-7673-0447FD704EF4}"/>
              </a:ext>
            </a:extLst>
          </p:cNvPr>
          <p:cNvCxnSpPr>
            <a:cxnSpLocks/>
          </p:cNvCxnSpPr>
          <p:nvPr/>
        </p:nvCxnSpPr>
        <p:spPr>
          <a:xfrm>
            <a:off x="4428133" y="1139371"/>
            <a:ext cx="229198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2F3B293-18D8-ED1F-E0C8-6D67800FD480}"/>
              </a:ext>
            </a:extLst>
          </p:cNvPr>
          <p:cNvSpPr/>
          <p:nvPr/>
        </p:nvSpPr>
        <p:spPr>
          <a:xfrm>
            <a:off x="6720114" y="770039"/>
            <a:ext cx="4141717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Trouver les données</a:t>
            </a:r>
          </a:p>
          <a:p>
            <a:pPr algn="ctr" rtl="0"/>
            <a:r>
              <a:rPr lang="fr-FR" sz="1600" b="1" dirty="0"/>
              <a:t>(</a:t>
            </a:r>
            <a:r>
              <a:rPr lang="fr-FR" sz="1600" b="1" dirty="0" err="1"/>
              <a:t>Kaggle</a:t>
            </a:r>
            <a:r>
              <a:rPr lang="fr-FR" sz="1600" b="1" dirty="0"/>
              <a:t>, </a:t>
            </a:r>
            <a:r>
              <a:rPr lang="fr-FR" sz="1600" b="1" dirty="0" err="1"/>
              <a:t>Github</a:t>
            </a:r>
            <a:r>
              <a:rPr lang="fr-FR" sz="1600" b="1" dirty="0"/>
              <a:t>, Internet)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6C0C2A-EE92-7EA9-9A6F-728548BF208F}"/>
              </a:ext>
            </a:extLst>
          </p:cNvPr>
          <p:cNvSpPr/>
          <p:nvPr/>
        </p:nvSpPr>
        <p:spPr>
          <a:xfrm>
            <a:off x="6333376" y="2384268"/>
            <a:ext cx="5210629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Données de « </a:t>
            </a:r>
            <a:r>
              <a:rPr lang="fr-FR" sz="3200" b="1" dirty="0" err="1"/>
              <a:t>JeffSackmann</a:t>
            </a:r>
            <a:r>
              <a:rPr lang="fr-FR" sz="3200" b="1" dirty="0"/>
              <a:t> »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F9EC5-3141-EBD1-E524-34F4E0FA259E}"/>
              </a:ext>
            </a:extLst>
          </p:cNvPr>
          <p:cNvSpPr/>
          <p:nvPr/>
        </p:nvSpPr>
        <p:spPr>
          <a:xfrm>
            <a:off x="6720114" y="3359690"/>
            <a:ext cx="5210629" cy="61555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2000" b="1" dirty="0"/>
              <a:t>Données des matchs – un fichier par année et par circuit – 92 fichiers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D6CED8-AD83-D77B-1CD5-2EC42BAF4B8B}"/>
              </a:ext>
            </a:extLst>
          </p:cNvPr>
          <p:cNvSpPr/>
          <p:nvPr/>
        </p:nvSpPr>
        <p:spPr>
          <a:xfrm>
            <a:off x="6720114" y="4378206"/>
            <a:ext cx="5210629" cy="92333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2000" b="1" dirty="0"/>
              <a:t>Données des joueurs – un fichier comprenant tous les joueurs qui ont existé – 1 fichier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DC6E6E-FD82-DFD5-2B26-D54DCDE75AC5}"/>
              </a:ext>
            </a:extLst>
          </p:cNvPr>
          <p:cNvSpPr/>
          <p:nvPr/>
        </p:nvSpPr>
        <p:spPr>
          <a:xfrm>
            <a:off x="6720113" y="5626296"/>
            <a:ext cx="5210629" cy="92333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2000" b="1" dirty="0"/>
              <a:t>Données des classements– un fichier par décennie répertoriant l’évolution par semaine – 3 fichiers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F5D74F-5369-6547-2D4D-DF84FD3884E7}"/>
              </a:ext>
            </a:extLst>
          </p:cNvPr>
          <p:cNvSpPr/>
          <p:nvPr/>
        </p:nvSpPr>
        <p:spPr>
          <a:xfrm>
            <a:off x="6333376" y="3359690"/>
            <a:ext cx="688057" cy="3012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F1FCE52D-BE84-7F47-34B7-8B8996CC2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5322" y="5667559"/>
            <a:ext cx="793139" cy="793139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51426FF4-3033-AFAA-746E-1239D1516A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12" y="4373902"/>
            <a:ext cx="793139" cy="793139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5A558173-C009-6A3D-D08F-9E87104EA1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0712" y="3279674"/>
            <a:ext cx="793139" cy="793139"/>
          </a:xfrm>
          <a:prstGeom prst="rect">
            <a:avLst/>
          </a:prstGeom>
        </p:spPr>
      </p:pic>
      <p:sp>
        <p:nvSpPr>
          <p:cNvPr id="23" name="Ellipse 22">
            <a:extLst>
              <a:ext uri="{FF2B5EF4-FFF2-40B4-BE49-F238E27FC236}">
                <a16:creationId xmlns:a16="http://schemas.microsoft.com/office/drawing/2014/main" id="{DFE304B5-F620-C0F8-2071-E72F7C85E466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D22CC8-E288-7CEA-441B-1E07F62A7706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46408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6F8C1DA-61CD-5E66-0274-34CC8ABA4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37" y="349121"/>
            <a:ext cx="1565979" cy="156597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CAD93A8-3F39-E3A4-4C1B-FA997F91C333}"/>
              </a:ext>
            </a:extLst>
          </p:cNvPr>
          <p:cNvSpPr/>
          <p:nvPr/>
        </p:nvSpPr>
        <p:spPr>
          <a:xfrm>
            <a:off x="2000398" y="900403"/>
            <a:ext cx="2878976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Classement ATP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1B38F349-A39A-925D-3A77-0701A6136675}"/>
              </a:ext>
            </a:extLst>
          </p:cNvPr>
          <p:cNvSpPr/>
          <p:nvPr/>
        </p:nvSpPr>
        <p:spPr>
          <a:xfrm rot="10800000">
            <a:off x="5005556" y="719755"/>
            <a:ext cx="351269" cy="85373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607BE9-4E2F-CEE0-E1D2-315FBB2AFDC2}"/>
              </a:ext>
            </a:extLst>
          </p:cNvPr>
          <p:cNvSpPr/>
          <p:nvPr/>
        </p:nvSpPr>
        <p:spPr>
          <a:xfrm>
            <a:off x="8251372" y="900403"/>
            <a:ext cx="4141717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Circuits différents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8820E3-14E8-7F70-8B19-AB24A9039391}"/>
              </a:ext>
            </a:extLst>
          </p:cNvPr>
          <p:cNvSpPr/>
          <p:nvPr/>
        </p:nvSpPr>
        <p:spPr>
          <a:xfrm>
            <a:off x="6965806" y="393446"/>
            <a:ext cx="2160955" cy="147732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9600" b="1" dirty="0"/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01B471-B2FA-2004-A9CB-A9E60FD9F315}"/>
              </a:ext>
            </a:extLst>
          </p:cNvPr>
          <p:cNvSpPr/>
          <p:nvPr/>
        </p:nvSpPr>
        <p:spPr>
          <a:xfrm>
            <a:off x="4453" y="2932929"/>
            <a:ext cx="4141717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ITF Tennis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1D7505-D984-0205-1383-D90C5FBF3C9D}"/>
              </a:ext>
            </a:extLst>
          </p:cNvPr>
          <p:cNvSpPr/>
          <p:nvPr/>
        </p:nvSpPr>
        <p:spPr>
          <a:xfrm>
            <a:off x="4141718" y="2940186"/>
            <a:ext cx="4141717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Challenger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1173FA-A618-83A6-A35F-A646B7216B74}"/>
              </a:ext>
            </a:extLst>
          </p:cNvPr>
          <p:cNvSpPr/>
          <p:nvPr/>
        </p:nvSpPr>
        <p:spPr>
          <a:xfrm>
            <a:off x="8050283" y="2932929"/>
            <a:ext cx="4141717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ATP</a:t>
            </a:r>
          </a:p>
        </p:txBody>
      </p: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FF26D65-729D-1DEE-CF36-8FF1858E802A}"/>
              </a:ext>
            </a:extLst>
          </p:cNvPr>
          <p:cNvCxnSpPr>
            <a:cxnSpLocks/>
          </p:cNvCxnSpPr>
          <p:nvPr/>
        </p:nvCxnSpPr>
        <p:spPr>
          <a:xfrm>
            <a:off x="4267200" y="3323771"/>
            <a:ext cx="0" cy="3178629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A289A7F-F5E0-871B-C37B-44B4FC7C0373}"/>
              </a:ext>
            </a:extLst>
          </p:cNvPr>
          <p:cNvCxnSpPr>
            <a:cxnSpLocks/>
          </p:cNvCxnSpPr>
          <p:nvPr/>
        </p:nvCxnSpPr>
        <p:spPr>
          <a:xfrm>
            <a:off x="8166858" y="3323771"/>
            <a:ext cx="0" cy="3178629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471BD7-DC2D-DF6D-1BAF-ABA880A5883E}"/>
              </a:ext>
            </a:extLst>
          </p:cNvPr>
          <p:cNvSpPr/>
          <p:nvPr/>
        </p:nvSpPr>
        <p:spPr>
          <a:xfrm>
            <a:off x="613345" y="3805091"/>
            <a:ext cx="3408053" cy="221599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Circuit le plus bas professionnellement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Catégories de tournoi : </a:t>
            </a:r>
            <a:r>
              <a:rPr lang="fr-FR" sz="1600" dirty="0"/>
              <a:t>M25, M15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Cash </a:t>
            </a:r>
            <a:r>
              <a:rPr lang="fr-FR" sz="1600" b="1" dirty="0" err="1"/>
              <a:t>Prize</a:t>
            </a:r>
            <a:r>
              <a:rPr lang="fr-FR" sz="1600" b="1" dirty="0"/>
              <a:t> : </a:t>
            </a:r>
            <a:r>
              <a:rPr lang="fr-FR" sz="1600" dirty="0"/>
              <a:t>15 k à 25 k euros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Joueurs ciblés : </a:t>
            </a:r>
            <a:r>
              <a:rPr lang="fr-FR" sz="1600" dirty="0"/>
              <a:t>Classement ATP &gt; 350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24A4D8-A865-7597-A837-F8EB50BDCDFD}"/>
              </a:ext>
            </a:extLst>
          </p:cNvPr>
          <p:cNvSpPr/>
          <p:nvPr/>
        </p:nvSpPr>
        <p:spPr>
          <a:xfrm>
            <a:off x="4638230" y="3805092"/>
            <a:ext cx="3408053" cy="221599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Circuit moyen des professionnelles</a:t>
            </a: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Catégories de tournoi : </a:t>
            </a:r>
            <a:r>
              <a:rPr lang="fr-FR" sz="1600" dirty="0"/>
              <a:t>Challenger 175, 125, 100, 75, 50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Cash </a:t>
            </a:r>
            <a:r>
              <a:rPr lang="fr-FR" sz="1600" b="1" dirty="0" err="1"/>
              <a:t>Prize</a:t>
            </a:r>
            <a:r>
              <a:rPr lang="fr-FR" sz="1600" b="1" dirty="0"/>
              <a:t> : </a:t>
            </a:r>
            <a:r>
              <a:rPr lang="fr-FR" sz="1600" dirty="0"/>
              <a:t>40 k à 220 k euros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Joueurs ciblés : </a:t>
            </a:r>
            <a:r>
              <a:rPr lang="fr-FR" sz="1600" dirty="0"/>
              <a:t>Classement ATP &gt; 100 et Classement ATP &lt; 350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673610-F73C-C880-F794-4BDE42C9DEC5}"/>
              </a:ext>
            </a:extLst>
          </p:cNvPr>
          <p:cNvSpPr/>
          <p:nvPr/>
        </p:nvSpPr>
        <p:spPr>
          <a:xfrm>
            <a:off x="8417114" y="3681980"/>
            <a:ext cx="3408053" cy="246221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Circuit de l’élite professionnelle</a:t>
            </a: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b="1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Catégories de tournoi : </a:t>
            </a:r>
            <a:r>
              <a:rPr lang="fr-FR" sz="1600" dirty="0"/>
              <a:t>Grands Chelems, Masters 1000, ATP 500, ATP 250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Cash </a:t>
            </a:r>
            <a:r>
              <a:rPr lang="fr-FR" sz="1600" b="1" dirty="0" err="1"/>
              <a:t>Prize</a:t>
            </a:r>
            <a:r>
              <a:rPr lang="fr-FR" sz="1600" b="1" dirty="0"/>
              <a:t> : 560 </a:t>
            </a:r>
            <a:r>
              <a:rPr lang="fr-FR" sz="1600" dirty="0"/>
              <a:t>k à 76 M euros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Joueurs ciblés : </a:t>
            </a:r>
            <a:r>
              <a:rPr lang="fr-FR" sz="1600" dirty="0"/>
              <a:t>Classement ATP &lt; 100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49501DF0-5726-65A2-4313-14B11CE97120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133771-D793-CE34-E7C2-51BE5768E2DB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6261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7755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Traitements des </a:t>
            </a:r>
          </a:p>
          <a:p>
            <a:pPr algn="ctr" rtl="0"/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données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761633-15BE-ECA1-4C88-2CCBC20F5877}"/>
              </a:ext>
            </a:extLst>
          </p:cNvPr>
          <p:cNvSpPr/>
          <p:nvPr/>
        </p:nvSpPr>
        <p:spPr>
          <a:xfrm>
            <a:off x="1224309" y="1172328"/>
            <a:ext cx="2501602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Intégration des données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DBEF9-4CAD-3C55-A961-4DEFB6B46810}"/>
              </a:ext>
            </a:extLst>
          </p:cNvPr>
          <p:cNvSpPr/>
          <p:nvPr/>
        </p:nvSpPr>
        <p:spPr>
          <a:xfrm>
            <a:off x="110943" y="4395987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Matchs</a:t>
            </a:r>
          </a:p>
          <a:p>
            <a:pPr algn="ctr" rtl="0"/>
            <a:r>
              <a:rPr lang="fr-FR" b="1" dirty="0"/>
              <a:t>(92 fichiers)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71279E-4ABF-E8EE-80D5-23630482FE3B}"/>
              </a:ext>
            </a:extLst>
          </p:cNvPr>
          <p:cNvSpPr/>
          <p:nvPr/>
        </p:nvSpPr>
        <p:spPr>
          <a:xfrm>
            <a:off x="2043649" y="4395987"/>
            <a:ext cx="86292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Joueurs (1 fichier)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D7C26-400B-777C-37D1-C2AB13547790}"/>
              </a:ext>
            </a:extLst>
          </p:cNvPr>
          <p:cNvSpPr/>
          <p:nvPr/>
        </p:nvSpPr>
        <p:spPr>
          <a:xfrm>
            <a:off x="3552996" y="4420912"/>
            <a:ext cx="1264326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Classements (3 fichiers)</a:t>
            </a:r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737D7A86-3A78-4F33-755C-42563FAD48AB}"/>
              </a:ext>
            </a:extLst>
          </p:cNvPr>
          <p:cNvCxnSpPr>
            <a:cxnSpLocks/>
          </p:cNvCxnSpPr>
          <p:nvPr/>
        </p:nvCxnSpPr>
        <p:spPr>
          <a:xfrm>
            <a:off x="2475110" y="2286000"/>
            <a:ext cx="0" cy="198120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1D66B5A-54AC-6B5C-40ED-12A5E5CDFC48}"/>
              </a:ext>
            </a:extLst>
          </p:cNvPr>
          <p:cNvCxnSpPr/>
          <p:nvPr/>
        </p:nvCxnSpPr>
        <p:spPr>
          <a:xfrm>
            <a:off x="884166" y="3256155"/>
            <a:ext cx="3339093" cy="0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271374E-7A35-854A-FE94-4639A6B212B3}"/>
              </a:ext>
            </a:extLst>
          </p:cNvPr>
          <p:cNvCxnSpPr>
            <a:cxnSpLocks/>
          </p:cNvCxnSpPr>
          <p:nvPr/>
        </p:nvCxnSpPr>
        <p:spPr>
          <a:xfrm>
            <a:off x="4185159" y="3242615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2777E275-F470-5B92-6649-980C7CC9ED76}"/>
              </a:ext>
            </a:extLst>
          </p:cNvPr>
          <p:cNvCxnSpPr>
            <a:cxnSpLocks/>
          </p:cNvCxnSpPr>
          <p:nvPr/>
        </p:nvCxnSpPr>
        <p:spPr>
          <a:xfrm>
            <a:off x="921259" y="3220390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renthèse fermante 20">
            <a:extLst>
              <a:ext uri="{FF2B5EF4-FFF2-40B4-BE49-F238E27FC236}">
                <a16:creationId xmlns:a16="http://schemas.microsoft.com/office/drawing/2014/main" id="{DC18BF6F-8E75-6712-0751-BE68E82373C2}"/>
              </a:ext>
            </a:extLst>
          </p:cNvPr>
          <p:cNvSpPr/>
          <p:nvPr/>
        </p:nvSpPr>
        <p:spPr>
          <a:xfrm rot="5400000">
            <a:off x="2221633" y="2760896"/>
            <a:ext cx="555625" cy="4635752"/>
          </a:xfrm>
          <a:prstGeom prst="rightBracket">
            <a:avLst/>
          </a:prstGeom>
          <a:ln w="5715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ABA55-BE48-E778-0586-F876A5B018BA}"/>
              </a:ext>
            </a:extLst>
          </p:cNvPr>
          <p:cNvSpPr/>
          <p:nvPr/>
        </p:nvSpPr>
        <p:spPr>
          <a:xfrm>
            <a:off x="0" y="5672030"/>
            <a:ext cx="4998889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Concaténation et contrôle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708A8C-613F-CCCC-D1FC-E24F9D781466}"/>
              </a:ext>
            </a:extLst>
          </p:cNvPr>
          <p:cNvSpPr/>
          <p:nvPr/>
        </p:nvSpPr>
        <p:spPr>
          <a:xfrm>
            <a:off x="7260752" y="1172328"/>
            <a:ext cx="3679825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Etats des lieux des données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E8498F44-FB49-91F6-6A5A-FA9F525187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690" y="3724462"/>
            <a:ext cx="827153" cy="827153"/>
          </a:xfrm>
          <a:prstGeom prst="rect">
            <a:avLst/>
          </a:prstGeom>
        </p:spPr>
      </p:pic>
      <p:pic>
        <p:nvPicPr>
          <p:cNvPr id="29" name="Image 28">
            <a:extLst>
              <a:ext uri="{FF2B5EF4-FFF2-40B4-BE49-F238E27FC236}">
                <a16:creationId xmlns:a16="http://schemas.microsoft.com/office/drawing/2014/main" id="{D2E7FA28-81D1-C268-C4AB-6BC024F67B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5691" y="2472654"/>
            <a:ext cx="827153" cy="827153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7F3B616-1779-75E6-CF08-467ABC0F4B70}"/>
              </a:ext>
            </a:extLst>
          </p:cNvPr>
          <p:cNvSpPr/>
          <p:nvPr/>
        </p:nvSpPr>
        <p:spPr>
          <a:xfrm>
            <a:off x="8545735" y="2732341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Valeurs doublons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2EAD40-0FC8-FC28-4324-FB0650724D06}"/>
              </a:ext>
            </a:extLst>
          </p:cNvPr>
          <p:cNvSpPr/>
          <p:nvPr/>
        </p:nvSpPr>
        <p:spPr>
          <a:xfrm>
            <a:off x="8545735" y="3850325"/>
            <a:ext cx="2064045" cy="61555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Valeurs manquantes / NA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9A78D6C2-8081-D9AC-2999-0B27C29C43DE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9B1AE5-4C30-D9B4-64C0-8B9C7BFDAFDF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5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B19059F-7DC1-73A9-C8C2-5BA7F5487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01" y="4982282"/>
            <a:ext cx="827153" cy="82715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04995A-D907-BCC2-9EED-512C6EC9154D}"/>
              </a:ext>
            </a:extLst>
          </p:cNvPr>
          <p:cNvSpPr/>
          <p:nvPr/>
        </p:nvSpPr>
        <p:spPr>
          <a:xfrm>
            <a:off x="8545734" y="5202696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Valeurs aberrantes</a:t>
            </a:r>
          </a:p>
        </p:txBody>
      </p:sp>
    </p:spTree>
    <p:extLst>
      <p:ext uri="{BB962C8B-B14F-4D97-AF65-F5344CB8AC3E}">
        <p14:creationId xmlns:p14="http://schemas.microsoft.com/office/powerpoint/2010/main" val="2123234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2A85565-AF7F-0938-C6EE-498B9999EA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3" y="3433496"/>
            <a:ext cx="672239" cy="67223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CB126B4-6BA4-EA97-09C2-BF151A2A1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81" y="2173331"/>
            <a:ext cx="672240" cy="67224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741D230-EF0F-0D1E-7E50-54B4B6DD4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81" y="1036470"/>
            <a:ext cx="672241" cy="6722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F127DF-4B07-73DE-E07E-06A3C8D1C027}"/>
              </a:ext>
            </a:extLst>
          </p:cNvPr>
          <p:cNvSpPr/>
          <p:nvPr/>
        </p:nvSpPr>
        <p:spPr>
          <a:xfrm>
            <a:off x="1456753" y="1229097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Matchs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69769B-F0D9-6F75-E6E2-80F440E8D6BE}"/>
              </a:ext>
            </a:extLst>
          </p:cNvPr>
          <p:cNvSpPr/>
          <p:nvPr/>
        </p:nvSpPr>
        <p:spPr>
          <a:xfrm>
            <a:off x="1456752" y="2323325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Joueurs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80CB74-C403-35CE-28B3-87AC1047CD53}"/>
              </a:ext>
            </a:extLst>
          </p:cNvPr>
          <p:cNvSpPr/>
          <p:nvPr/>
        </p:nvSpPr>
        <p:spPr>
          <a:xfrm>
            <a:off x="1237501" y="3615726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Classements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8AE84D9-193B-3D1E-C230-F169D310DB7F}"/>
              </a:ext>
            </a:extLst>
          </p:cNvPr>
          <p:cNvCxnSpPr>
            <a:cxnSpLocks/>
          </p:cNvCxnSpPr>
          <p:nvPr/>
        </p:nvCxnSpPr>
        <p:spPr>
          <a:xfrm>
            <a:off x="3194025" y="1369318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7BA07B4-E247-6A4F-3EE4-0E68FB32BFA5}"/>
              </a:ext>
            </a:extLst>
          </p:cNvPr>
          <p:cNvCxnSpPr>
            <a:cxnSpLocks/>
          </p:cNvCxnSpPr>
          <p:nvPr/>
        </p:nvCxnSpPr>
        <p:spPr>
          <a:xfrm>
            <a:off x="3194025" y="2474218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699AEB8E-C76F-0F0E-0D5D-ED1B8AB29574}"/>
              </a:ext>
            </a:extLst>
          </p:cNvPr>
          <p:cNvCxnSpPr>
            <a:cxnSpLocks/>
          </p:cNvCxnSpPr>
          <p:nvPr/>
        </p:nvCxnSpPr>
        <p:spPr>
          <a:xfrm>
            <a:off x="3194024" y="3769614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C849531-0AD1-FADB-B654-0656C2CFBCB4}"/>
              </a:ext>
            </a:extLst>
          </p:cNvPr>
          <p:cNvSpPr/>
          <p:nvPr/>
        </p:nvSpPr>
        <p:spPr>
          <a:xfrm>
            <a:off x="4554160" y="921320"/>
            <a:ext cx="3054645" cy="92333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Identifiant unique</a:t>
            </a:r>
          </a:p>
          <a:p>
            <a:pPr algn="ctr" rtl="0"/>
            <a:r>
              <a:rPr lang="fr-FR" sz="1600" b="1" dirty="0"/>
              <a:t>(</a:t>
            </a:r>
            <a:r>
              <a:rPr lang="fr-FR" sz="1600" b="1" dirty="0" err="1"/>
              <a:t>id_tournoi</a:t>
            </a:r>
            <a:r>
              <a:rPr lang="fr-FR" sz="1600" b="1" dirty="0"/>
              <a:t>, </a:t>
            </a:r>
            <a:r>
              <a:rPr lang="fr-FR" sz="1600" b="1" dirty="0" err="1"/>
              <a:t>date_tournoi</a:t>
            </a:r>
            <a:r>
              <a:rPr lang="fr-FR" sz="1600" b="1" dirty="0"/>
              <a:t>, </a:t>
            </a:r>
            <a:r>
              <a:rPr lang="fr-FR" sz="1600" b="1" dirty="0" err="1"/>
              <a:t>id_gagnant</a:t>
            </a:r>
            <a:r>
              <a:rPr lang="fr-FR" sz="1600" b="1" dirty="0"/>
              <a:t>, </a:t>
            </a:r>
            <a:r>
              <a:rPr lang="fr-FR" sz="1600" b="1" dirty="0" err="1"/>
              <a:t>id_perdant</a:t>
            </a:r>
            <a:r>
              <a:rPr lang="fr-FR" sz="1600" b="1" dirty="0"/>
              <a:t>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AA6960-662A-5B92-800B-AA187E70DE9D}"/>
              </a:ext>
            </a:extLst>
          </p:cNvPr>
          <p:cNvSpPr/>
          <p:nvPr/>
        </p:nvSpPr>
        <p:spPr>
          <a:xfrm>
            <a:off x="4554160" y="2168463"/>
            <a:ext cx="3054645" cy="67710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Identifiant unique</a:t>
            </a:r>
          </a:p>
          <a:p>
            <a:pPr algn="ctr" rtl="0"/>
            <a:r>
              <a:rPr lang="fr-FR" sz="1600" b="1" dirty="0"/>
              <a:t>(</a:t>
            </a:r>
            <a:r>
              <a:rPr lang="fr-FR" sz="1600" b="1" dirty="0" err="1"/>
              <a:t>id_joueur</a:t>
            </a:r>
            <a:r>
              <a:rPr lang="fr-FR" sz="1600" b="1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DD5AC7-3E10-FBA8-4DF3-526D48857E81}"/>
              </a:ext>
            </a:extLst>
          </p:cNvPr>
          <p:cNvSpPr/>
          <p:nvPr/>
        </p:nvSpPr>
        <p:spPr>
          <a:xfrm>
            <a:off x="4554160" y="3231157"/>
            <a:ext cx="3054645" cy="135421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Identifiant unique</a:t>
            </a:r>
          </a:p>
          <a:p>
            <a:pPr algn="ctr" rtl="0"/>
            <a:r>
              <a:rPr lang="fr-FR" sz="1600" b="1" dirty="0"/>
              <a:t>(</a:t>
            </a:r>
            <a:r>
              <a:rPr lang="fr-FR" sz="1600" b="1" dirty="0" err="1"/>
              <a:t>date_classement</a:t>
            </a:r>
            <a:r>
              <a:rPr lang="fr-FR" sz="1600" b="1" dirty="0"/>
              <a:t>, </a:t>
            </a:r>
            <a:r>
              <a:rPr lang="fr-FR" sz="1600" b="1" dirty="0" err="1"/>
              <a:t>classement_atp</a:t>
            </a:r>
            <a:r>
              <a:rPr lang="fr-FR" sz="1600" b="1" dirty="0"/>
              <a:t>, </a:t>
            </a:r>
            <a:r>
              <a:rPr lang="fr-FR" sz="1600" b="1" dirty="0" err="1"/>
              <a:t>id_joueur</a:t>
            </a:r>
            <a:r>
              <a:rPr lang="fr-FR" sz="1600" b="1" dirty="0"/>
              <a:t>)</a:t>
            </a:r>
          </a:p>
          <a:p>
            <a:pPr algn="ctr" rtl="0"/>
            <a:endParaRPr lang="fr-FR" sz="2800" b="1" dirty="0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4121B4D8-C408-377F-62F7-7C410FEDC196}"/>
              </a:ext>
            </a:extLst>
          </p:cNvPr>
          <p:cNvCxnSpPr>
            <a:cxnSpLocks/>
          </p:cNvCxnSpPr>
          <p:nvPr/>
        </p:nvCxnSpPr>
        <p:spPr>
          <a:xfrm>
            <a:off x="7816824" y="1369318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6723DD39-3972-D376-DFDE-E64444E67AEF}"/>
              </a:ext>
            </a:extLst>
          </p:cNvPr>
          <p:cNvCxnSpPr>
            <a:cxnSpLocks/>
          </p:cNvCxnSpPr>
          <p:nvPr/>
        </p:nvCxnSpPr>
        <p:spPr>
          <a:xfrm>
            <a:off x="7816824" y="2474218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85E60227-0EA8-1706-2081-721342D5CF85}"/>
              </a:ext>
            </a:extLst>
          </p:cNvPr>
          <p:cNvCxnSpPr>
            <a:cxnSpLocks/>
          </p:cNvCxnSpPr>
          <p:nvPr/>
        </p:nvCxnSpPr>
        <p:spPr>
          <a:xfrm>
            <a:off x="7816823" y="3769614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56DB58C3-8E5E-484A-356B-2E8FA6010B6E}"/>
              </a:ext>
            </a:extLst>
          </p:cNvPr>
          <p:cNvSpPr/>
          <p:nvPr/>
        </p:nvSpPr>
        <p:spPr>
          <a:xfrm>
            <a:off x="9062020" y="1153874"/>
            <a:ext cx="3054645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Doublons présents</a:t>
            </a:r>
            <a:endParaRPr lang="fr-FR" sz="16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7323D6-FC3D-84E2-21FE-0E469DEEF309}"/>
              </a:ext>
            </a:extLst>
          </p:cNvPr>
          <p:cNvSpPr/>
          <p:nvPr/>
        </p:nvSpPr>
        <p:spPr>
          <a:xfrm>
            <a:off x="9049639" y="2258774"/>
            <a:ext cx="3054645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Aucun doublon</a:t>
            </a:r>
            <a:endParaRPr lang="fr-FR" sz="1600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BC3CC6-7D13-1659-BF2E-FD7D15DF1EE2}"/>
              </a:ext>
            </a:extLst>
          </p:cNvPr>
          <p:cNvSpPr/>
          <p:nvPr/>
        </p:nvSpPr>
        <p:spPr>
          <a:xfrm>
            <a:off x="9062020" y="3554170"/>
            <a:ext cx="3054645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800" b="1" dirty="0"/>
              <a:t>Doublons présents</a:t>
            </a:r>
            <a:endParaRPr lang="fr-FR" sz="1600" b="1" dirty="0"/>
          </a:p>
        </p:txBody>
      </p:sp>
      <p:sp>
        <p:nvSpPr>
          <p:cNvPr id="25" name="Parenthèse fermante 24">
            <a:extLst>
              <a:ext uri="{FF2B5EF4-FFF2-40B4-BE49-F238E27FC236}">
                <a16:creationId xmlns:a16="http://schemas.microsoft.com/office/drawing/2014/main" id="{D8361945-7194-2E30-BFCE-554709EF1DF8}"/>
              </a:ext>
            </a:extLst>
          </p:cNvPr>
          <p:cNvSpPr/>
          <p:nvPr/>
        </p:nvSpPr>
        <p:spPr>
          <a:xfrm rot="5400000">
            <a:off x="5745362" y="2850586"/>
            <a:ext cx="672239" cy="3182537"/>
          </a:xfrm>
          <a:prstGeom prst="rightBracket">
            <a:avLst/>
          </a:prstGeom>
          <a:ln w="5715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98C169A-68C9-E27A-D11E-32506E391C0B}"/>
              </a:ext>
            </a:extLst>
          </p:cNvPr>
          <p:cNvCxnSpPr>
            <a:stCxn id="25" idx="2"/>
          </p:cNvCxnSpPr>
          <p:nvPr/>
        </p:nvCxnSpPr>
        <p:spPr>
          <a:xfrm>
            <a:off x="6081481" y="4777974"/>
            <a:ext cx="0" cy="340126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A1858AE-1D12-BE25-5967-8F11EEF101EF}"/>
              </a:ext>
            </a:extLst>
          </p:cNvPr>
          <p:cNvSpPr/>
          <p:nvPr/>
        </p:nvSpPr>
        <p:spPr>
          <a:xfrm>
            <a:off x="4025141" y="5160109"/>
            <a:ext cx="4141717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Group by</a:t>
            </a:r>
          </a:p>
          <a:p>
            <a:pPr algn="ctr" rtl="0"/>
            <a:r>
              <a:rPr lang="fr-FR" sz="1600" b="1" dirty="0"/>
              <a:t>(rassemblement des données autour des identifiants uniques)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875DECA-4540-37D2-11FA-A2C13185D0B7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9214AB-EC5B-8474-84AE-EA02106F1A1F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86557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DFA77E-956E-A874-1059-20B0D9486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613" y="507334"/>
            <a:ext cx="672240" cy="67224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113745CA-A3E5-B1DA-1F39-CE1831CB61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13" y="507334"/>
            <a:ext cx="672241" cy="67224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0A27AF-EEB4-783A-B202-A6EDD42870AD}"/>
              </a:ext>
            </a:extLst>
          </p:cNvPr>
          <p:cNvSpPr/>
          <p:nvPr/>
        </p:nvSpPr>
        <p:spPr>
          <a:xfrm>
            <a:off x="-204490" y="1329569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Matchs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6502F5-3728-D23C-B580-F31435687520}"/>
              </a:ext>
            </a:extLst>
          </p:cNvPr>
          <p:cNvSpPr/>
          <p:nvPr/>
        </p:nvSpPr>
        <p:spPr>
          <a:xfrm>
            <a:off x="3808709" y="1329568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Joueurs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74904D5-0E92-1868-BF73-534776AF43C9}"/>
              </a:ext>
            </a:extLst>
          </p:cNvPr>
          <p:cNvCxnSpPr>
            <a:cxnSpLocks/>
          </p:cNvCxnSpPr>
          <p:nvPr/>
        </p:nvCxnSpPr>
        <p:spPr>
          <a:xfrm>
            <a:off x="825014" y="1823330"/>
            <a:ext cx="0" cy="905188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7402D99-01D8-B49A-AF4E-F6C39856BB48}"/>
              </a:ext>
            </a:extLst>
          </p:cNvPr>
          <p:cNvSpPr/>
          <p:nvPr/>
        </p:nvSpPr>
        <p:spPr>
          <a:xfrm>
            <a:off x="-779984" y="3192333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Age gagnant 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07BED-4E05-CA16-E7FF-13C4F23E1CBE}"/>
              </a:ext>
            </a:extLst>
          </p:cNvPr>
          <p:cNvSpPr/>
          <p:nvPr/>
        </p:nvSpPr>
        <p:spPr>
          <a:xfrm>
            <a:off x="-477406" y="4240516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Main forte gagnant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4A5B75-0A68-A962-7530-AEDCE7E51108}"/>
              </a:ext>
            </a:extLst>
          </p:cNvPr>
          <p:cNvSpPr/>
          <p:nvPr/>
        </p:nvSpPr>
        <p:spPr>
          <a:xfrm>
            <a:off x="-744105" y="5280994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Taille gagnant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004723-4202-D07D-B0ED-B8FFCB0A1FA4}"/>
              </a:ext>
            </a:extLst>
          </p:cNvPr>
          <p:cNvSpPr/>
          <p:nvPr/>
        </p:nvSpPr>
        <p:spPr>
          <a:xfrm>
            <a:off x="-779984" y="6398181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Statistiques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F8628B-3C0E-E636-CEB3-250A04D21931}"/>
              </a:ext>
            </a:extLst>
          </p:cNvPr>
          <p:cNvSpPr/>
          <p:nvPr/>
        </p:nvSpPr>
        <p:spPr>
          <a:xfrm>
            <a:off x="4113122" y="3189337"/>
            <a:ext cx="118776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Main forte 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22AE69-3959-7B20-7906-0E8ABA30768F}"/>
              </a:ext>
            </a:extLst>
          </p:cNvPr>
          <p:cNvSpPr/>
          <p:nvPr/>
        </p:nvSpPr>
        <p:spPr>
          <a:xfrm>
            <a:off x="4114900" y="3979675"/>
            <a:ext cx="1948437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Date d’anniversaire 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CC95FD-7C41-1FF5-73D3-5181660B817A}"/>
              </a:ext>
            </a:extLst>
          </p:cNvPr>
          <p:cNvSpPr/>
          <p:nvPr/>
        </p:nvSpPr>
        <p:spPr>
          <a:xfrm>
            <a:off x="4045166" y="5735695"/>
            <a:ext cx="1281469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Nationalité 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09CA00-AD9D-1B29-FE46-3ED679CDA441}"/>
              </a:ext>
            </a:extLst>
          </p:cNvPr>
          <p:cNvSpPr/>
          <p:nvPr/>
        </p:nvSpPr>
        <p:spPr>
          <a:xfrm>
            <a:off x="4113122" y="4863403"/>
            <a:ext cx="576531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Taille 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93F661-38EE-AE76-6726-3119FB308796}"/>
              </a:ext>
            </a:extLst>
          </p:cNvPr>
          <p:cNvSpPr/>
          <p:nvPr/>
        </p:nvSpPr>
        <p:spPr>
          <a:xfrm>
            <a:off x="-744106" y="5757226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Taille perdant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FEBA17-4AEE-18D0-093D-D8687808B880}"/>
              </a:ext>
            </a:extLst>
          </p:cNvPr>
          <p:cNvSpPr/>
          <p:nvPr/>
        </p:nvSpPr>
        <p:spPr>
          <a:xfrm>
            <a:off x="-477407" y="4682623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Main forte perdant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3353CC-B615-6476-A181-F2D363FA9BAB}"/>
              </a:ext>
            </a:extLst>
          </p:cNvPr>
          <p:cNvSpPr/>
          <p:nvPr/>
        </p:nvSpPr>
        <p:spPr>
          <a:xfrm>
            <a:off x="-779984" y="3617640"/>
            <a:ext cx="3054645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Age perdant :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EB9253-891D-7CA1-402E-5F007CB79CE8}"/>
              </a:ext>
            </a:extLst>
          </p:cNvPr>
          <p:cNvSpPr/>
          <p:nvPr/>
        </p:nvSpPr>
        <p:spPr>
          <a:xfrm>
            <a:off x="1416508" y="3189337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0,5 %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1235CD-B5A7-9E98-1FCB-467126CD9758}"/>
              </a:ext>
            </a:extLst>
          </p:cNvPr>
          <p:cNvSpPr/>
          <p:nvPr/>
        </p:nvSpPr>
        <p:spPr>
          <a:xfrm>
            <a:off x="1416507" y="3622262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0,9 %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9051C1-586B-A9BD-4808-91E264EFE728}"/>
              </a:ext>
            </a:extLst>
          </p:cNvPr>
          <p:cNvSpPr/>
          <p:nvPr/>
        </p:nvSpPr>
        <p:spPr>
          <a:xfrm>
            <a:off x="2000708" y="4243199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12 %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A29014-B77B-C493-586B-94B1E60E5F0D}"/>
              </a:ext>
            </a:extLst>
          </p:cNvPr>
          <p:cNvSpPr/>
          <p:nvPr/>
        </p:nvSpPr>
        <p:spPr>
          <a:xfrm>
            <a:off x="2000707" y="4676124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19 %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A18FA2-A0E6-C684-7543-7C9B614FFD5D}"/>
              </a:ext>
            </a:extLst>
          </p:cNvPr>
          <p:cNvSpPr/>
          <p:nvPr/>
        </p:nvSpPr>
        <p:spPr>
          <a:xfrm>
            <a:off x="1452387" y="5298818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39 %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CBE6C6-AD9D-5C48-594D-AC14523B702D}"/>
              </a:ext>
            </a:extLst>
          </p:cNvPr>
          <p:cNvSpPr/>
          <p:nvPr/>
        </p:nvSpPr>
        <p:spPr>
          <a:xfrm>
            <a:off x="1452386" y="5731743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52 %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210205-AB39-8E54-C74C-8796A697E65A}"/>
              </a:ext>
            </a:extLst>
          </p:cNvPr>
          <p:cNvSpPr/>
          <p:nvPr/>
        </p:nvSpPr>
        <p:spPr>
          <a:xfrm>
            <a:off x="1452386" y="6345977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77 %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2EED256E-317E-293F-6FD3-2FC9E98982A0}"/>
              </a:ext>
            </a:extLst>
          </p:cNvPr>
          <p:cNvCxnSpPr>
            <a:cxnSpLocks/>
          </p:cNvCxnSpPr>
          <p:nvPr/>
        </p:nvCxnSpPr>
        <p:spPr>
          <a:xfrm>
            <a:off x="354735" y="4076700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7B73DC3A-E665-B0AE-0C41-824F8F90CB1F}"/>
              </a:ext>
            </a:extLst>
          </p:cNvPr>
          <p:cNvCxnSpPr>
            <a:cxnSpLocks/>
          </p:cNvCxnSpPr>
          <p:nvPr/>
        </p:nvCxnSpPr>
        <p:spPr>
          <a:xfrm>
            <a:off x="290749" y="5156200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12D2DCEF-7FA3-417C-3D3B-D8E82635BB63}"/>
              </a:ext>
            </a:extLst>
          </p:cNvPr>
          <p:cNvCxnSpPr>
            <a:cxnSpLocks/>
          </p:cNvCxnSpPr>
          <p:nvPr/>
        </p:nvCxnSpPr>
        <p:spPr>
          <a:xfrm>
            <a:off x="290749" y="6197600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58B1EA35-CD3F-714D-B8D3-E9A039A93FB6}"/>
              </a:ext>
            </a:extLst>
          </p:cNvPr>
          <p:cNvCxnSpPr>
            <a:cxnSpLocks/>
          </p:cNvCxnSpPr>
          <p:nvPr/>
        </p:nvCxnSpPr>
        <p:spPr>
          <a:xfrm>
            <a:off x="4840732" y="1698954"/>
            <a:ext cx="0" cy="905188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EB034671-1507-CC85-5A90-C4E2192B40FC}"/>
              </a:ext>
            </a:extLst>
          </p:cNvPr>
          <p:cNvCxnSpPr>
            <a:cxnSpLocks/>
          </p:cNvCxnSpPr>
          <p:nvPr/>
        </p:nvCxnSpPr>
        <p:spPr>
          <a:xfrm>
            <a:off x="4360331" y="3756139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DC23C215-1270-AE2E-750E-C76527FF78D7}"/>
              </a:ext>
            </a:extLst>
          </p:cNvPr>
          <p:cNvCxnSpPr>
            <a:cxnSpLocks/>
          </p:cNvCxnSpPr>
          <p:nvPr/>
        </p:nvCxnSpPr>
        <p:spPr>
          <a:xfrm>
            <a:off x="4360331" y="4550976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1B11406B-3BDE-3289-1D95-549AD5FF7990}"/>
              </a:ext>
            </a:extLst>
          </p:cNvPr>
          <p:cNvCxnSpPr>
            <a:cxnSpLocks/>
          </p:cNvCxnSpPr>
          <p:nvPr/>
        </p:nvCxnSpPr>
        <p:spPr>
          <a:xfrm>
            <a:off x="4370452" y="5509336"/>
            <a:ext cx="940558" cy="0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22F2DBBF-52A9-AC12-23D5-4AD90FC29ABB}"/>
              </a:ext>
            </a:extLst>
          </p:cNvPr>
          <p:cNvSpPr/>
          <p:nvPr/>
        </p:nvSpPr>
        <p:spPr>
          <a:xfrm>
            <a:off x="5311010" y="3158548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70 %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BF15F3C-3F3C-ABA1-75F0-CA261A6F00B0}"/>
              </a:ext>
            </a:extLst>
          </p:cNvPr>
          <p:cNvSpPr/>
          <p:nvPr/>
        </p:nvSpPr>
        <p:spPr>
          <a:xfrm>
            <a:off x="6082628" y="3986014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25 %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F69AF2-32F0-A428-5AE4-61A3F0256AE7}"/>
              </a:ext>
            </a:extLst>
          </p:cNvPr>
          <p:cNvSpPr/>
          <p:nvPr/>
        </p:nvSpPr>
        <p:spPr>
          <a:xfrm>
            <a:off x="4660154" y="4864428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97 %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21082B-2FC0-9E07-78C6-F2FECFDF7ABB}"/>
              </a:ext>
            </a:extLst>
          </p:cNvPr>
          <p:cNvSpPr/>
          <p:nvPr/>
        </p:nvSpPr>
        <p:spPr>
          <a:xfrm>
            <a:off x="5336755" y="5731880"/>
            <a:ext cx="85815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i="1" dirty="0"/>
              <a:t>0,02 %</a:t>
            </a:r>
          </a:p>
        </p:txBody>
      </p: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66DCC56F-2526-AF63-BEC9-F182C344F1C2}"/>
              </a:ext>
            </a:extLst>
          </p:cNvPr>
          <p:cNvCxnSpPr>
            <a:cxnSpLocks/>
          </p:cNvCxnSpPr>
          <p:nvPr/>
        </p:nvCxnSpPr>
        <p:spPr>
          <a:xfrm>
            <a:off x="7381213" y="814054"/>
            <a:ext cx="0" cy="5229892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10A15AE7-AB2E-0059-50DD-C1D311E55BB6}"/>
              </a:ext>
            </a:extLst>
          </p:cNvPr>
          <p:cNvSpPr/>
          <p:nvPr/>
        </p:nvSpPr>
        <p:spPr>
          <a:xfrm>
            <a:off x="7862734" y="1065668"/>
            <a:ext cx="3197607" cy="480131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Compléter manuellement</a:t>
            </a:r>
          </a:p>
          <a:p>
            <a:pPr marL="342900" indent="-342900">
              <a:buFont typeface="+mj-lt"/>
              <a:buAutoNum type="arabicPeriod"/>
            </a:pP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Compléter en croisant des jeux de données externes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Compléter en scrappant les données d’un site </a:t>
            </a: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fr-FR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Compléter en imputant </a:t>
            </a:r>
            <a:r>
              <a:rPr lang="fr-FR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fr-FR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 données</a:t>
            </a:r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67EA7E0A-D851-C9FC-AF6B-7C21D69EF7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145" y="1219296"/>
            <a:ext cx="528319" cy="528319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:a16="http://schemas.microsoft.com/office/drawing/2014/main" id="{DD7055F7-CFE5-3CF2-09B6-008A8E0A9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906" y="2376276"/>
            <a:ext cx="528319" cy="528319"/>
          </a:xfrm>
          <a:prstGeom prst="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F537991B-50E6-376A-FB48-E32ABCDAD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905" y="3868768"/>
            <a:ext cx="528319" cy="528319"/>
          </a:xfrm>
          <a:prstGeom prst="rect">
            <a:avLst/>
          </a:prstGeom>
        </p:spPr>
      </p:pic>
      <p:sp>
        <p:nvSpPr>
          <p:cNvPr id="61" name="Ellipse 60">
            <a:extLst>
              <a:ext uri="{FF2B5EF4-FFF2-40B4-BE49-F238E27FC236}">
                <a16:creationId xmlns:a16="http://schemas.microsoft.com/office/drawing/2014/main" id="{2D3A67CD-C1B9-055D-75D7-FFD5FE3348B8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CF0C442-FAB7-C59C-E6A9-48A51C662B3C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7</a:t>
            </a: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700EE88F-08E3-836E-A6DC-6FA670ABEE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8814" y="5250875"/>
            <a:ext cx="528410" cy="52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32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F37AEA23-064E-5685-D9B6-6CD5AD234171}"/>
              </a:ext>
            </a:extLst>
          </p:cNvPr>
          <p:cNvCxnSpPr>
            <a:cxnSpLocks/>
          </p:cNvCxnSpPr>
          <p:nvPr/>
        </p:nvCxnSpPr>
        <p:spPr>
          <a:xfrm>
            <a:off x="4782979" y="814054"/>
            <a:ext cx="0" cy="5229892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7ACBF377-CF58-EE8B-92F1-ABF393F0C013}"/>
              </a:ext>
            </a:extLst>
          </p:cNvPr>
          <p:cNvSpPr/>
          <p:nvPr/>
        </p:nvSpPr>
        <p:spPr>
          <a:xfrm>
            <a:off x="172020" y="444722"/>
            <a:ext cx="4330595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400" b="1" u="sng" dirty="0"/>
              <a:t>Compléter en croisant avec des jeux de données externes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473577-1861-9265-32C7-6F0A01053616}"/>
              </a:ext>
            </a:extLst>
          </p:cNvPr>
          <p:cNvSpPr/>
          <p:nvPr/>
        </p:nvSpPr>
        <p:spPr>
          <a:xfrm>
            <a:off x="114680" y="2690336"/>
            <a:ext cx="4330595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400" b="1" u="sng" dirty="0"/>
              <a:t>Compléter en scrappant les données d’un site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021003-6325-1F1C-F15C-A9CBEF21AA0E}"/>
              </a:ext>
            </a:extLst>
          </p:cNvPr>
          <p:cNvSpPr/>
          <p:nvPr/>
        </p:nvSpPr>
        <p:spPr>
          <a:xfrm>
            <a:off x="405325" y="1554268"/>
            <a:ext cx="4125960" cy="738664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Jeu de données provenant de </a:t>
            </a:r>
            <a:r>
              <a:rPr lang="fr-FR" sz="1600" dirty="0" err="1"/>
              <a:t>Kaggle</a:t>
            </a: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Jeu de données provenant d’un site communautaire de tennis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9DD12-1C04-806B-13D6-609AC893B936}"/>
              </a:ext>
            </a:extLst>
          </p:cNvPr>
          <p:cNvSpPr/>
          <p:nvPr/>
        </p:nvSpPr>
        <p:spPr>
          <a:xfrm>
            <a:off x="405325" y="3687923"/>
            <a:ext cx="4125960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Site de récupération : </a:t>
            </a:r>
            <a:r>
              <a:rPr lang="fr-FR" sz="1600" dirty="0"/>
              <a:t>Wikipédia (Anglais)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Librairies utilisées : </a:t>
            </a:r>
            <a:r>
              <a:rPr lang="fr-FR" sz="1600" dirty="0" err="1"/>
              <a:t>Request</a:t>
            </a:r>
            <a:r>
              <a:rPr lang="fr-FR" sz="1600" dirty="0"/>
              <a:t> et </a:t>
            </a:r>
            <a:r>
              <a:rPr lang="fr-FR" sz="1600" dirty="0" err="1"/>
              <a:t>Beautifoul</a:t>
            </a:r>
            <a:r>
              <a:rPr lang="fr-FR" sz="1600" dirty="0"/>
              <a:t> </a:t>
            </a:r>
            <a:r>
              <a:rPr lang="fr-FR" sz="1600" dirty="0" err="1"/>
              <a:t>Soup</a:t>
            </a:r>
            <a:endParaRPr lang="fr-FR" sz="1600" dirty="0"/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Temps de </a:t>
            </a:r>
            <a:r>
              <a:rPr lang="fr-FR" sz="1600" b="1" dirty="0" err="1"/>
              <a:t>scrapping</a:t>
            </a:r>
            <a:r>
              <a:rPr lang="fr-FR" sz="1600" b="1" dirty="0"/>
              <a:t> : </a:t>
            </a:r>
            <a:r>
              <a:rPr lang="fr-FR" sz="1600" dirty="0"/>
              <a:t>12h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C0AED-B819-B61E-4B38-41F60102CC71}"/>
              </a:ext>
            </a:extLst>
          </p:cNvPr>
          <p:cNvSpPr/>
          <p:nvPr/>
        </p:nvSpPr>
        <p:spPr>
          <a:xfrm>
            <a:off x="405325" y="5059061"/>
            <a:ext cx="4125960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Autres sites de récupération : </a:t>
            </a:r>
            <a:r>
              <a:rPr lang="fr-FR" sz="1600" dirty="0"/>
              <a:t>ATP Tour OU ITF Tennis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b="1" dirty="0"/>
              <a:t>Librairies à utiliser : </a:t>
            </a:r>
            <a:r>
              <a:rPr lang="fr-FR" sz="1600" dirty="0" err="1"/>
              <a:t>Request</a:t>
            </a:r>
            <a:r>
              <a:rPr lang="fr-FR" sz="1600" dirty="0"/>
              <a:t>, </a:t>
            </a:r>
            <a:r>
              <a:rPr lang="fr-FR" sz="1600" dirty="0" err="1"/>
              <a:t>Selenium</a:t>
            </a:r>
            <a:r>
              <a:rPr lang="fr-FR" sz="1600" dirty="0"/>
              <a:t> et </a:t>
            </a:r>
            <a:r>
              <a:rPr lang="fr-FR" sz="1600" dirty="0" err="1"/>
              <a:t>Beautifoul</a:t>
            </a:r>
            <a:r>
              <a:rPr lang="fr-FR" sz="1600" dirty="0"/>
              <a:t> </a:t>
            </a:r>
            <a:r>
              <a:rPr lang="fr-FR" sz="1600" dirty="0" err="1"/>
              <a:t>Soup</a:t>
            </a:r>
            <a:endParaRPr lang="fr-FR" sz="1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544E37-46BB-8A58-4D42-2694B76AE0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022" y="183599"/>
            <a:ext cx="672241" cy="67224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962565-8D2A-E22A-9EA1-4DC293D1E3C9}"/>
              </a:ext>
            </a:extLst>
          </p:cNvPr>
          <p:cNvSpPr/>
          <p:nvPr/>
        </p:nvSpPr>
        <p:spPr>
          <a:xfrm>
            <a:off x="7964394" y="376226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Matchs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2A43B34-8DC7-037B-648B-E2ABE8286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9023" y="3755558"/>
            <a:ext cx="672240" cy="67224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E4F4A1D-9788-76A0-5F73-996085EEF421}"/>
              </a:ext>
            </a:extLst>
          </p:cNvPr>
          <p:cNvSpPr/>
          <p:nvPr/>
        </p:nvSpPr>
        <p:spPr>
          <a:xfrm>
            <a:off x="7964394" y="3905552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Joueurs</a:t>
            </a:r>
          </a:p>
        </p:txBody>
      </p:sp>
      <p:graphicFrame>
        <p:nvGraphicFramePr>
          <p:cNvPr id="15" name="Tableau 14">
            <a:extLst>
              <a:ext uri="{FF2B5EF4-FFF2-40B4-BE49-F238E27FC236}">
                <a16:creationId xmlns:a16="http://schemas.microsoft.com/office/drawing/2014/main" id="{189E6A78-D60A-6D25-A023-A683338B8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633120"/>
              </p:ext>
            </p:extLst>
          </p:nvPr>
        </p:nvGraphicFramePr>
        <p:xfrm>
          <a:off x="5012500" y="1048467"/>
          <a:ext cx="7064820" cy="256032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54940">
                  <a:extLst>
                    <a:ext uri="{9D8B030D-6E8A-4147-A177-3AD203B41FA5}">
                      <a16:colId xmlns:a16="http://schemas.microsoft.com/office/drawing/2014/main" val="1626316711"/>
                    </a:ext>
                  </a:extLst>
                </a:gridCol>
                <a:gridCol w="2354940">
                  <a:extLst>
                    <a:ext uri="{9D8B030D-6E8A-4147-A177-3AD203B41FA5}">
                      <a16:colId xmlns:a16="http://schemas.microsoft.com/office/drawing/2014/main" val="2525963532"/>
                    </a:ext>
                  </a:extLst>
                </a:gridCol>
                <a:gridCol w="2354940">
                  <a:extLst>
                    <a:ext uri="{9D8B030D-6E8A-4147-A177-3AD203B41FA5}">
                      <a16:colId xmlns:a16="http://schemas.microsoft.com/office/drawing/2014/main" val="2084098330"/>
                    </a:ext>
                  </a:extLst>
                </a:gridCol>
              </a:tblGrid>
              <a:tr h="30277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 traitement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Après traitement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69722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 Gagnant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0,3 %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37537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Age Perdant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0,5 %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848757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Main forte Gagnant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8 %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3454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Main forte Perdant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15 %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600129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Taille Gagnant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31 %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1458668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Taille Perdant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52 %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44 %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74925"/>
                  </a:ext>
                </a:extLst>
              </a:tr>
            </a:tbl>
          </a:graphicData>
        </a:graphic>
      </p:graphicFrame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BDC28B18-B9FB-8441-AB46-D7AB7E949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604196"/>
              </p:ext>
            </p:extLst>
          </p:nvPr>
        </p:nvGraphicFramePr>
        <p:xfrm>
          <a:off x="5012500" y="4574569"/>
          <a:ext cx="7064820" cy="18288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354940">
                  <a:extLst>
                    <a:ext uri="{9D8B030D-6E8A-4147-A177-3AD203B41FA5}">
                      <a16:colId xmlns:a16="http://schemas.microsoft.com/office/drawing/2014/main" val="1626316711"/>
                    </a:ext>
                  </a:extLst>
                </a:gridCol>
                <a:gridCol w="2354940">
                  <a:extLst>
                    <a:ext uri="{9D8B030D-6E8A-4147-A177-3AD203B41FA5}">
                      <a16:colId xmlns:a16="http://schemas.microsoft.com/office/drawing/2014/main" val="2525963532"/>
                    </a:ext>
                  </a:extLst>
                </a:gridCol>
                <a:gridCol w="2354940">
                  <a:extLst>
                    <a:ext uri="{9D8B030D-6E8A-4147-A177-3AD203B41FA5}">
                      <a16:colId xmlns:a16="http://schemas.microsoft.com/office/drawing/2014/main" val="2084098330"/>
                    </a:ext>
                  </a:extLst>
                </a:gridCol>
              </a:tblGrid>
              <a:tr h="302773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Avant traitement 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Après traitement 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69722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Main forte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70 %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67 %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37537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Date d’anniversaire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848757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Taille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97 %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92 %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23454"/>
                  </a:ext>
                </a:extLst>
              </a:tr>
              <a:tr h="30277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Nationalité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0,02 %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0 %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600129"/>
                  </a:ext>
                </a:extLst>
              </a:tr>
            </a:tbl>
          </a:graphicData>
        </a:graphic>
      </p:graphicFrame>
      <p:sp>
        <p:nvSpPr>
          <p:cNvPr id="17" name="Ellipse 16">
            <a:extLst>
              <a:ext uri="{FF2B5EF4-FFF2-40B4-BE49-F238E27FC236}">
                <a16:creationId xmlns:a16="http://schemas.microsoft.com/office/drawing/2014/main" id="{AA5C9C36-DB42-86B9-2322-43F84C918C7E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D31278-8AA4-0B88-F440-5E1DAE6F0D59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42284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A0EC0BA-2735-58EC-5B40-D5A5DD9A2B58}"/>
              </a:ext>
            </a:extLst>
          </p:cNvPr>
          <p:cNvCxnSpPr>
            <a:cxnSpLocks/>
          </p:cNvCxnSpPr>
          <p:nvPr/>
        </p:nvCxnSpPr>
        <p:spPr>
          <a:xfrm>
            <a:off x="4254852" y="1934028"/>
            <a:ext cx="0" cy="4553858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5B1FE13-DE15-3525-B772-F772E5EECE10}"/>
              </a:ext>
            </a:extLst>
          </p:cNvPr>
          <p:cNvCxnSpPr>
            <a:cxnSpLocks/>
          </p:cNvCxnSpPr>
          <p:nvPr/>
        </p:nvCxnSpPr>
        <p:spPr>
          <a:xfrm>
            <a:off x="8406207" y="1926382"/>
            <a:ext cx="0" cy="4553858"/>
          </a:xfrm>
          <a:prstGeom prst="line">
            <a:avLst/>
          </a:prstGeom>
          <a:ln w="28575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8E62121C-6401-5EF5-3029-30B9C5DBAE66}"/>
              </a:ext>
            </a:extLst>
          </p:cNvPr>
          <p:cNvSpPr/>
          <p:nvPr/>
        </p:nvSpPr>
        <p:spPr>
          <a:xfrm>
            <a:off x="363812" y="4233349"/>
            <a:ext cx="3891040" cy="196977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Compte du nombre de sets, globalement, gagnants et perdants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Compte du nombre de jeux, globalement, gagnants et perdants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Détermine le respect de la hiérarchie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Catégorisation des tournois par circuit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Intégration de la nationalité entière</a:t>
            </a:r>
          </a:p>
          <a:p>
            <a:pPr rtl="0"/>
            <a:endParaRPr lang="fr-FR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73147C-C708-5F2A-D034-6A16528491A4}"/>
              </a:ext>
            </a:extLst>
          </p:cNvPr>
          <p:cNvSpPr/>
          <p:nvPr/>
        </p:nvSpPr>
        <p:spPr>
          <a:xfrm>
            <a:off x="4536658" y="4025841"/>
            <a:ext cx="3769139" cy="221599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Exclusion de tous les joueurs nés avant 1950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Indique l’année du premier et dernier match professionnel recensé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Indique la première date d’apparition dans le classement ATP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fr-FR" sz="1600" dirty="0"/>
              <a:t>Indique le meilleur et pire classement ATP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fr-FR" sz="1600" dirty="0"/>
              <a:t>Intégration de la nationalité entière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025BEA-AB3C-34A4-D8B2-9C256A2C07CC}"/>
              </a:ext>
            </a:extLst>
          </p:cNvPr>
          <p:cNvSpPr/>
          <p:nvPr/>
        </p:nvSpPr>
        <p:spPr>
          <a:xfrm>
            <a:off x="-3310" y="155364"/>
            <a:ext cx="4896463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Valeurs aberrantes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E7F08C17-1044-211D-B4FF-B3C6149DDF9E}"/>
              </a:ext>
            </a:extLst>
          </p:cNvPr>
          <p:cNvCxnSpPr>
            <a:cxnSpLocks/>
          </p:cNvCxnSpPr>
          <p:nvPr/>
        </p:nvCxnSpPr>
        <p:spPr>
          <a:xfrm>
            <a:off x="4461344" y="421074"/>
            <a:ext cx="1110741" cy="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8AA699D-F5A1-E970-B812-08C8260DBE63}"/>
              </a:ext>
            </a:extLst>
          </p:cNvPr>
          <p:cNvSpPr/>
          <p:nvPr/>
        </p:nvSpPr>
        <p:spPr>
          <a:xfrm>
            <a:off x="5808133" y="236408"/>
            <a:ext cx="6232026" cy="369332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400" b="1" dirty="0"/>
              <a:t>Valeurs négatives OU supérieurs à la valeur max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C96874BA-33F7-CE5E-E263-A02629C20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828" y="1140784"/>
            <a:ext cx="672239" cy="67223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4D49740E-8429-97B1-38AA-E34B1BF9A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913" y="1148537"/>
            <a:ext cx="672240" cy="672240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D8476D5D-D578-A6FD-08CB-89D3848C8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732" y="1138033"/>
            <a:ext cx="672241" cy="672241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74DEEB0-6F36-03E8-3858-A828D4037E3A}"/>
              </a:ext>
            </a:extLst>
          </p:cNvPr>
          <p:cNvSpPr/>
          <p:nvPr/>
        </p:nvSpPr>
        <p:spPr>
          <a:xfrm>
            <a:off x="1442104" y="1330660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Matchs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0084C4-EF88-5060-9712-5941DE11C6EA}"/>
              </a:ext>
            </a:extLst>
          </p:cNvPr>
          <p:cNvSpPr/>
          <p:nvPr/>
        </p:nvSpPr>
        <p:spPr>
          <a:xfrm>
            <a:off x="5527284" y="1298531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Joueurs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0399990-14D0-9560-6311-7FB7DD0832E8}"/>
              </a:ext>
            </a:extLst>
          </p:cNvPr>
          <p:cNvSpPr/>
          <p:nvPr/>
        </p:nvSpPr>
        <p:spPr>
          <a:xfrm>
            <a:off x="9834016" y="1323014"/>
            <a:ext cx="2064045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dirty="0"/>
              <a:t>Classements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0CF86D-038B-C9F2-0EF3-362B080A7057}"/>
              </a:ext>
            </a:extLst>
          </p:cNvPr>
          <p:cNvSpPr/>
          <p:nvPr/>
        </p:nvSpPr>
        <p:spPr>
          <a:xfrm>
            <a:off x="-1114264" y="2167208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Valeurs aberrantes :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07D33D-497F-C5A3-1A82-1A5BB610CD52}"/>
              </a:ext>
            </a:extLst>
          </p:cNvPr>
          <p:cNvSpPr/>
          <p:nvPr/>
        </p:nvSpPr>
        <p:spPr>
          <a:xfrm>
            <a:off x="-1050183" y="3472011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Derniers traitements :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5055A6-D7DB-5776-A7E0-87364D8D8937}"/>
              </a:ext>
            </a:extLst>
          </p:cNvPr>
          <p:cNvSpPr/>
          <p:nvPr/>
        </p:nvSpPr>
        <p:spPr>
          <a:xfrm>
            <a:off x="3045022" y="2138513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Valeurs aberrantes 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0159EEF-BA6A-EE07-8D3E-1A825DEE2FD1}"/>
              </a:ext>
            </a:extLst>
          </p:cNvPr>
          <p:cNvSpPr/>
          <p:nvPr/>
        </p:nvSpPr>
        <p:spPr>
          <a:xfrm>
            <a:off x="3087891" y="3443316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Derniers traitements 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83F482-3DE2-BB20-FEE2-2B96A5F0157F}"/>
              </a:ext>
            </a:extLst>
          </p:cNvPr>
          <p:cNvSpPr/>
          <p:nvPr/>
        </p:nvSpPr>
        <p:spPr>
          <a:xfrm>
            <a:off x="7221120" y="2159562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Valeurs aberrantes 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15D761-A483-2B52-FB3B-D91D8E700615}"/>
              </a:ext>
            </a:extLst>
          </p:cNvPr>
          <p:cNvSpPr/>
          <p:nvPr/>
        </p:nvSpPr>
        <p:spPr>
          <a:xfrm>
            <a:off x="7295478" y="3464365"/>
            <a:ext cx="4896463" cy="3077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2000" b="1" u="sng" dirty="0"/>
              <a:t>Derniers traitements :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704B9EC-171E-3BF6-DDED-9DE26E8E2AB9}"/>
              </a:ext>
            </a:extLst>
          </p:cNvPr>
          <p:cNvSpPr/>
          <p:nvPr/>
        </p:nvSpPr>
        <p:spPr>
          <a:xfrm>
            <a:off x="266896" y="2761760"/>
            <a:ext cx="3445774" cy="43088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/>
              <a:t>15 lignes aberrantes </a:t>
            </a:r>
            <a:r>
              <a:rPr lang="fr-FR" sz="1200" dirty="0"/>
              <a:t>(2 pour les minutes – 2 pour les balles de break sauvées et 11 pour les aces)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CBDFB1-5C82-6DBB-12E0-DDB01616D7E8}"/>
              </a:ext>
            </a:extLst>
          </p:cNvPr>
          <p:cNvSpPr/>
          <p:nvPr/>
        </p:nvSpPr>
        <p:spPr>
          <a:xfrm>
            <a:off x="4537746" y="2844692"/>
            <a:ext cx="2228557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/>
              <a:t>Aucune valeur aberrante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E8E85E-DD25-C6D1-772C-F2A207439D2D}"/>
              </a:ext>
            </a:extLst>
          </p:cNvPr>
          <p:cNvSpPr/>
          <p:nvPr/>
        </p:nvSpPr>
        <p:spPr>
          <a:xfrm>
            <a:off x="8653023" y="2813878"/>
            <a:ext cx="2228557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/>
              <a:t>Aucune valeur aberrante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5A6A56-57BE-3F2B-271B-76394022A9EF}"/>
              </a:ext>
            </a:extLst>
          </p:cNvPr>
          <p:cNvSpPr/>
          <p:nvPr/>
        </p:nvSpPr>
        <p:spPr>
          <a:xfrm>
            <a:off x="8653023" y="4167926"/>
            <a:ext cx="2897753" cy="246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600" dirty="0"/>
              <a:t>Aucun traitement supplémentaire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DC37FE3E-8D3C-F788-EE8A-C6D473AC65F8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C119E0-CCC6-8A1C-BA31-7D12D3750044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325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 rtlCol="0"/>
          <a:lstStyle/>
          <a:p>
            <a:r>
              <a:rPr lang="fr-FR" dirty="0"/>
              <a:t>Analyse du projet : diapositive </a:t>
            </a:r>
            <a:r>
              <a:rPr lang="fr" dirty="0"/>
              <a:t>2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0"/>
            <a:r>
              <a:rPr lang="fr-FR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Visualisation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4761633-15BE-ECA1-4C88-2CCBC20F5877}"/>
              </a:ext>
            </a:extLst>
          </p:cNvPr>
          <p:cNvSpPr/>
          <p:nvPr/>
        </p:nvSpPr>
        <p:spPr>
          <a:xfrm>
            <a:off x="1224309" y="982115"/>
            <a:ext cx="2501602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Visualisation statique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DBEF9-4CAD-3C55-A961-4DEFB6B46810}"/>
              </a:ext>
            </a:extLst>
          </p:cNvPr>
          <p:cNvSpPr/>
          <p:nvPr/>
        </p:nvSpPr>
        <p:spPr>
          <a:xfrm>
            <a:off x="639979" y="4383987"/>
            <a:ext cx="1467142" cy="553998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Mise en forme des données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5D7C26-400B-777C-37D1-C2AB13547790}"/>
              </a:ext>
            </a:extLst>
          </p:cNvPr>
          <p:cNvSpPr/>
          <p:nvPr/>
        </p:nvSpPr>
        <p:spPr>
          <a:xfrm>
            <a:off x="2408495" y="4383538"/>
            <a:ext cx="2228341" cy="83099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Déterminer les types de graphiques les plus adaptés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1D66B5A-54AC-6B5C-40ED-12A5E5CDFC48}"/>
              </a:ext>
            </a:extLst>
          </p:cNvPr>
          <p:cNvCxnSpPr>
            <a:cxnSpLocks/>
          </p:cNvCxnSpPr>
          <p:nvPr/>
        </p:nvCxnSpPr>
        <p:spPr>
          <a:xfrm>
            <a:off x="1384809" y="3256155"/>
            <a:ext cx="2228341" cy="0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7271374E-7A35-854A-FE94-4639A6B212B3}"/>
              </a:ext>
            </a:extLst>
          </p:cNvPr>
          <p:cNvCxnSpPr>
            <a:cxnSpLocks/>
          </p:cNvCxnSpPr>
          <p:nvPr/>
        </p:nvCxnSpPr>
        <p:spPr>
          <a:xfrm>
            <a:off x="3575731" y="3256155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arenthèse fermante 20">
            <a:extLst>
              <a:ext uri="{FF2B5EF4-FFF2-40B4-BE49-F238E27FC236}">
                <a16:creationId xmlns:a16="http://schemas.microsoft.com/office/drawing/2014/main" id="{DC18BF6F-8E75-6712-0751-BE68E82373C2}"/>
              </a:ext>
            </a:extLst>
          </p:cNvPr>
          <p:cNvSpPr/>
          <p:nvPr/>
        </p:nvSpPr>
        <p:spPr>
          <a:xfrm rot="5400000">
            <a:off x="2268663" y="2906628"/>
            <a:ext cx="555625" cy="4635752"/>
          </a:xfrm>
          <a:prstGeom prst="rightBracket">
            <a:avLst/>
          </a:prstGeom>
          <a:ln w="5715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2ABA55-BE48-E778-0586-F876A5B018BA}"/>
              </a:ext>
            </a:extLst>
          </p:cNvPr>
          <p:cNvSpPr/>
          <p:nvPr/>
        </p:nvSpPr>
        <p:spPr>
          <a:xfrm>
            <a:off x="-24335" y="6088880"/>
            <a:ext cx="4998889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Création des graphiques</a:t>
            </a:r>
          </a:p>
        </p:txBody>
      </p:sp>
      <p:cxnSp>
        <p:nvCxnSpPr>
          <p:cNvPr id="2" name="Connecteur droit avec flèche 1">
            <a:extLst>
              <a:ext uri="{FF2B5EF4-FFF2-40B4-BE49-F238E27FC236}">
                <a16:creationId xmlns:a16="http://schemas.microsoft.com/office/drawing/2014/main" id="{C6A66C73-F1F3-37A0-9640-28369A9426DF}"/>
              </a:ext>
            </a:extLst>
          </p:cNvPr>
          <p:cNvCxnSpPr>
            <a:cxnSpLocks/>
          </p:cNvCxnSpPr>
          <p:nvPr/>
        </p:nvCxnSpPr>
        <p:spPr>
          <a:xfrm>
            <a:off x="1384809" y="3220390"/>
            <a:ext cx="0" cy="104681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6A32F18F-95B2-E198-CBBF-AEF011BF44E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2475110" y="1967000"/>
            <a:ext cx="0" cy="1253390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E43E79AA-E645-04F0-0379-ED1C8285FE12}"/>
              </a:ext>
            </a:extLst>
          </p:cNvPr>
          <p:cNvCxnSpPr/>
          <p:nvPr/>
        </p:nvCxnSpPr>
        <p:spPr>
          <a:xfrm>
            <a:off x="2408495" y="5502317"/>
            <a:ext cx="0" cy="340126"/>
          </a:xfrm>
          <a:prstGeom prst="line">
            <a:avLst/>
          </a:prstGeom>
          <a:ln w="76200">
            <a:solidFill>
              <a:srgbClr val="CB7A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B510827-CA98-BC2C-5680-59463F5FC517}"/>
              </a:ext>
            </a:extLst>
          </p:cNvPr>
          <p:cNvSpPr/>
          <p:nvPr/>
        </p:nvSpPr>
        <p:spPr>
          <a:xfrm>
            <a:off x="7777509" y="982115"/>
            <a:ext cx="2501602" cy="98488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Visualisation dynamique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4D5D3FB-61D2-C55B-2462-43C7CBCB74A9}"/>
              </a:ext>
            </a:extLst>
          </p:cNvPr>
          <p:cNvSpPr/>
          <p:nvPr/>
        </p:nvSpPr>
        <p:spPr>
          <a:xfrm>
            <a:off x="7674947" y="2966651"/>
            <a:ext cx="2712306" cy="27699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Création de chaque vue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FF4309-BA98-13B1-CFB2-E0A81AF6E4F2}"/>
              </a:ext>
            </a:extLst>
          </p:cNvPr>
          <p:cNvSpPr/>
          <p:nvPr/>
        </p:nvSpPr>
        <p:spPr>
          <a:xfrm>
            <a:off x="7461612" y="4314297"/>
            <a:ext cx="3122055" cy="83099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b="1" dirty="0"/>
              <a:t>Mise en forme d’une maquette pour la structure des </a:t>
            </a:r>
            <a:r>
              <a:rPr lang="fr-FR" b="1" dirty="0" err="1"/>
              <a:t>dashboards</a:t>
            </a:r>
            <a:endParaRPr lang="fr-FR" b="1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6DB0E43-8438-7D3B-AABB-EA332A3E63B4}"/>
              </a:ext>
            </a:extLst>
          </p:cNvPr>
          <p:cNvSpPr/>
          <p:nvPr/>
        </p:nvSpPr>
        <p:spPr>
          <a:xfrm>
            <a:off x="6528865" y="6088880"/>
            <a:ext cx="4998889" cy="49244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3200" b="1" dirty="0"/>
              <a:t>Création des </a:t>
            </a:r>
            <a:r>
              <a:rPr lang="fr-FR" sz="3200" b="1" dirty="0" err="1"/>
              <a:t>dashboards</a:t>
            </a:r>
            <a:endParaRPr lang="fr-FR" sz="3200" b="1" dirty="0"/>
          </a:p>
        </p:txBody>
      </p:sp>
      <p:pic>
        <p:nvPicPr>
          <p:cNvPr id="2050" name="Picture 2" descr="Installing Jupyter Notebook. please refer to this article if you… | by  Chinmay s yalameli | Medium">
            <a:extLst>
              <a:ext uri="{FF2B5EF4-FFF2-40B4-BE49-F238E27FC236}">
                <a16:creationId xmlns:a16="http://schemas.microsoft.com/office/drawing/2014/main" id="{4F5E7054-B4D5-12D4-4B60-44DB6B945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0" t="19779" r="8974" b="22490"/>
          <a:stretch/>
        </p:blipFill>
        <p:spPr bwMode="auto">
          <a:xfrm>
            <a:off x="3858351" y="1042398"/>
            <a:ext cx="957860" cy="92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PSO – TABLEAU SOFTWARE - OPSO | Data Expert Nantes | ACSSI">
            <a:extLst>
              <a:ext uri="{FF2B5EF4-FFF2-40B4-BE49-F238E27FC236}">
                <a16:creationId xmlns:a16="http://schemas.microsoft.com/office/drawing/2014/main" id="{1701E76F-638D-3660-3BF9-027B51B53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41" t="38207" r="19011" b="38094"/>
          <a:stretch/>
        </p:blipFill>
        <p:spPr bwMode="auto">
          <a:xfrm>
            <a:off x="10233990" y="1294125"/>
            <a:ext cx="1865372" cy="492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E8BBEFC7-18BA-79A0-7270-52CB6E6EFEFC}"/>
              </a:ext>
            </a:extLst>
          </p:cNvPr>
          <p:cNvCxnSpPr>
            <a:cxnSpLocks/>
          </p:cNvCxnSpPr>
          <p:nvPr/>
        </p:nvCxnSpPr>
        <p:spPr>
          <a:xfrm>
            <a:off x="9022640" y="1964524"/>
            <a:ext cx="8460" cy="943776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85E4BD32-160C-AF0A-A75D-8B58514F53C8}"/>
              </a:ext>
            </a:extLst>
          </p:cNvPr>
          <p:cNvCxnSpPr>
            <a:cxnSpLocks/>
          </p:cNvCxnSpPr>
          <p:nvPr/>
        </p:nvCxnSpPr>
        <p:spPr>
          <a:xfrm>
            <a:off x="9025105" y="3390900"/>
            <a:ext cx="11990" cy="83820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1CF1EFDC-28E4-2F4E-D7CC-719717D3BB19}"/>
              </a:ext>
            </a:extLst>
          </p:cNvPr>
          <p:cNvCxnSpPr>
            <a:cxnSpLocks/>
          </p:cNvCxnSpPr>
          <p:nvPr/>
        </p:nvCxnSpPr>
        <p:spPr>
          <a:xfrm>
            <a:off x="9031100" y="5232324"/>
            <a:ext cx="11990" cy="838200"/>
          </a:xfrm>
          <a:prstGeom prst="straightConnector1">
            <a:avLst/>
          </a:prstGeom>
          <a:ln w="76200">
            <a:solidFill>
              <a:srgbClr val="CB7A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Ellipse 2047">
            <a:extLst>
              <a:ext uri="{FF2B5EF4-FFF2-40B4-BE49-F238E27FC236}">
                <a16:creationId xmlns:a16="http://schemas.microsoft.com/office/drawing/2014/main" id="{7963C152-51CD-A125-DF0F-20E3D6DCDA90}"/>
              </a:ext>
            </a:extLst>
          </p:cNvPr>
          <p:cNvSpPr/>
          <p:nvPr/>
        </p:nvSpPr>
        <p:spPr>
          <a:xfrm>
            <a:off x="11782915" y="6515654"/>
            <a:ext cx="271634" cy="303692"/>
          </a:xfrm>
          <a:prstGeom prst="ellipse">
            <a:avLst/>
          </a:prstGeom>
          <a:gradFill flip="none" rotWithShape="1">
            <a:gsLst>
              <a:gs pos="0">
                <a:srgbClr val="11AEC7">
                  <a:tint val="66000"/>
                  <a:satMod val="160000"/>
                </a:srgbClr>
              </a:gs>
              <a:gs pos="50000">
                <a:srgbClr val="11AEC7">
                  <a:tint val="44500"/>
                  <a:satMod val="160000"/>
                </a:srgbClr>
              </a:gs>
              <a:gs pos="100000">
                <a:srgbClr val="11AEC7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49" name="Rectangle 2048">
            <a:extLst>
              <a:ext uri="{FF2B5EF4-FFF2-40B4-BE49-F238E27FC236}">
                <a16:creationId xmlns:a16="http://schemas.microsoft.com/office/drawing/2014/main" id="{BC32952D-9F14-11BF-5E9F-59BCE1F08FA3}"/>
              </a:ext>
            </a:extLst>
          </p:cNvPr>
          <p:cNvSpPr/>
          <p:nvPr/>
        </p:nvSpPr>
        <p:spPr>
          <a:xfrm>
            <a:off x="11714148" y="6577547"/>
            <a:ext cx="409168" cy="169277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0"/>
            <a:r>
              <a:rPr lang="fr-FR" sz="1100" b="1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81451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740364_TF78455520" id="{1B6B5A3F-3791-4D91-8BCC-053B27B038BF}" vid="{26B24478-322D-4DF5-BC15-C9CB3253BD4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Analyse de projet, tiré de 24Slides</Template>
  <TotalTime>458</TotalTime>
  <Words>771</Words>
  <Application>Microsoft Office PowerPoint</Application>
  <PresentationFormat>Grand écran</PresentationFormat>
  <Paragraphs>205</Paragraphs>
  <Slides>10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Segoe UI Light</vt:lpstr>
      <vt:lpstr>Thème Office</vt:lpstr>
      <vt:lpstr>Analyse du circuit professionnel de tennis masculin</vt:lpstr>
      <vt:lpstr>Analyse du projet : diapositive 2</vt:lpstr>
      <vt:lpstr>Présentation PowerPoint</vt:lpstr>
      <vt:lpstr>Présentation PowerPoint</vt:lpstr>
      <vt:lpstr>Analyse du projet : diapositive 2</vt:lpstr>
      <vt:lpstr>Présentation PowerPoint</vt:lpstr>
      <vt:lpstr>Présentation PowerPoint</vt:lpstr>
      <vt:lpstr>Présentation PowerPoint</vt:lpstr>
      <vt:lpstr>Présentation PowerPoint</vt:lpstr>
      <vt:lpstr>Analyse du projet : diapositive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du circuit professionnel de tennis masculin</dc:title>
  <dc:creator>Stéfan Ménard</dc:creator>
  <cp:lastModifiedBy>Stéfan Ménard</cp:lastModifiedBy>
  <cp:revision>50</cp:revision>
  <dcterms:created xsi:type="dcterms:W3CDTF">2023-11-18T00:49:54Z</dcterms:created>
  <dcterms:modified xsi:type="dcterms:W3CDTF">2023-11-19T12:01:36Z</dcterms:modified>
</cp:coreProperties>
</file>